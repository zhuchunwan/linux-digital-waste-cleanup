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5089aba2d247f7" /><Relationship Type="http://schemas.openxmlformats.org/officeDocument/2006/relationships/extended-properties" Target="/docProps/app.xml" Id="R2641d9601f274180" /><Relationship Type="http://schemas.openxmlformats.org/officeDocument/2006/relationships/officeDocument" Target="/ppt/presentation.xml" Id="R85e567cfc9664c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894c0d35274f77"/>
  </p:sldMasterIdLst>
  <p:notesMasterIdLst>
    <p:notesMasterId xmlns:r="http://schemas.openxmlformats.org/officeDocument/2006/relationships" r:id="Rae663e14d66a4fa9"/>
  </p:notesMasterIdLst>
  <p:sldIdLst>
    <p:sldId xmlns:r="http://schemas.openxmlformats.org/officeDocument/2006/relationships" id="256" r:id="Rb02c8634256542d7"/>
    <p:sldId xmlns:r="http://schemas.openxmlformats.org/officeDocument/2006/relationships" id="257" r:id="R3e022b13505542ac"/>
    <p:sldId xmlns:r="http://schemas.openxmlformats.org/officeDocument/2006/relationships" id="258" r:id="Rfeb39f2304904884"/>
    <p:sldId xmlns:r="http://schemas.openxmlformats.org/officeDocument/2006/relationships" id="259" r:id="Rda64b0df992540dc"/>
    <p:sldId xmlns:r="http://schemas.openxmlformats.org/officeDocument/2006/relationships" id="260" r:id="Rc5c02f125e844fe2"/>
    <p:sldId xmlns:r="http://schemas.openxmlformats.org/officeDocument/2006/relationships" id="261" r:id="Rdffaf5dbf93f4c75"/>
    <p:sldId xmlns:r="http://schemas.openxmlformats.org/officeDocument/2006/relationships" id="262" r:id="Rd2a723dfc8cc449d"/>
    <p:sldId xmlns:r="http://schemas.openxmlformats.org/officeDocument/2006/relationships" id="263" r:id="R705738609ad74270"/>
    <p:sldId xmlns:r="http://schemas.openxmlformats.org/officeDocument/2006/relationships" id="264" r:id="R4abf44cd787840e0"/>
    <p:sldId xmlns:r="http://schemas.openxmlformats.org/officeDocument/2006/relationships" id="265" r:id="Re2c499fb62b54bf4"/>
    <p:sldId xmlns:r="http://schemas.openxmlformats.org/officeDocument/2006/relationships" id="266" r:id="R5b1a79dd8e47434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c0e04fec824b2c" /><Relationship Type="http://schemas.openxmlformats.org/officeDocument/2006/relationships/slideMaster" Target="/ppt/slideMasters/slideMaster1.xml" Id="R20894c0d35274f77" /><Relationship Type="http://schemas.openxmlformats.org/officeDocument/2006/relationships/notesMaster" Target="/ppt/notesMasters/notesMaster1.xml" Id="Rae663e14d66a4fa9" /><Relationship Type="http://schemas.openxmlformats.org/officeDocument/2006/relationships/presProps" Target="/ppt/presProps.xml" Id="R894779bad34c483b" /><Relationship Type="http://schemas.openxmlformats.org/officeDocument/2006/relationships/viewProps" Target="/ppt/viewProps.xml" Id="Rbc42e92a8b354a4b" /><Relationship Type="http://schemas.openxmlformats.org/officeDocument/2006/relationships/tableStyles" Target="/ppt/tableStyles.xml" Id="R8ddf3529b79e4ece" /><Relationship Type="http://schemas.openxmlformats.org/officeDocument/2006/relationships/slide" Target="/ppt/slides/slide1.xml" Id="Rb02c8634256542d7" /><Relationship Type="http://schemas.openxmlformats.org/officeDocument/2006/relationships/slide" Target="/ppt/slides/slide2.xml" Id="R3e022b13505542ac" /><Relationship Type="http://schemas.openxmlformats.org/officeDocument/2006/relationships/slide" Target="/ppt/slides/slide3.xml" Id="Rfeb39f2304904884" /><Relationship Type="http://schemas.openxmlformats.org/officeDocument/2006/relationships/slide" Target="/ppt/slides/slide4.xml" Id="Rda64b0df992540dc" /><Relationship Type="http://schemas.openxmlformats.org/officeDocument/2006/relationships/slide" Target="/ppt/slides/slide5.xml" Id="Rc5c02f125e844fe2" /><Relationship Type="http://schemas.openxmlformats.org/officeDocument/2006/relationships/slide" Target="/ppt/slides/slide6.xml" Id="Rdffaf5dbf93f4c75" /><Relationship Type="http://schemas.openxmlformats.org/officeDocument/2006/relationships/slide" Target="/ppt/slides/slide7.xml" Id="Rd2a723dfc8cc449d" /><Relationship Type="http://schemas.openxmlformats.org/officeDocument/2006/relationships/slide" Target="/ppt/slides/slide8.xml" Id="R705738609ad74270" /><Relationship Type="http://schemas.openxmlformats.org/officeDocument/2006/relationships/slide" Target="/ppt/slides/slide9.xml" Id="R4abf44cd787840e0" /><Relationship Type="http://schemas.openxmlformats.org/officeDocument/2006/relationships/slide" Target="/ppt/slides/slide10.xml" Id="Re2c499fb62b54bf4" /><Relationship Type="http://schemas.openxmlformats.org/officeDocument/2006/relationships/slide" Target="/ppt/slides/slide11.xml" Id="R5b1a79dd8e4743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6701e6a6244c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48dc211c98439c" /><Relationship Type="http://schemas.openxmlformats.org/officeDocument/2006/relationships/notesMaster" Target="/ppt/notesMasters/notesMaster1.xml" Id="Rd86dffdff36549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3d60ca00a34866" /><Relationship Type="http://schemas.openxmlformats.org/officeDocument/2006/relationships/notesMaster" Target="/ppt/notesMasters/notesMaster1.xml" Id="R3bdb241103ab46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b50a97dbf84f43" /><Relationship Type="http://schemas.openxmlformats.org/officeDocument/2006/relationships/notesMaster" Target="/ppt/notesMasters/notesMaster1.xml" Id="Rfa3a0de35fb24e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8137a784e544a8" /><Relationship Type="http://schemas.openxmlformats.org/officeDocument/2006/relationships/notesMaster" Target="/ppt/notesMasters/notesMaster1.xml" Id="R6f9164f822f84b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24ae0530884fa4" /><Relationship Type="http://schemas.openxmlformats.org/officeDocument/2006/relationships/notesMaster" Target="/ppt/notesMasters/notesMaster1.xml" Id="R13a7115ce2ce43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a355f517114569" /><Relationship Type="http://schemas.openxmlformats.org/officeDocument/2006/relationships/notesMaster" Target="/ppt/notesMasters/notesMaster1.xml" Id="Ra086bf2dc6c94e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56243a59d2447f" /><Relationship Type="http://schemas.openxmlformats.org/officeDocument/2006/relationships/notesMaster" Target="/ppt/notesMasters/notesMaster1.xml" Id="R8a677586208046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b0c1c423b84bfe" /><Relationship Type="http://schemas.openxmlformats.org/officeDocument/2006/relationships/notesMaster" Target="/ppt/notesMasters/notesMaster1.xml" Id="Rc463eb09e94c40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ea53ed5a654744" /><Relationship Type="http://schemas.openxmlformats.org/officeDocument/2006/relationships/notesMaster" Target="/ppt/notesMasters/notesMaster1.xml" Id="Rc77b03c72d994f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5759a61b0649e4" /><Relationship Type="http://schemas.openxmlformats.org/officeDocument/2006/relationships/notesMaster" Target="/ppt/notesMasters/notesMaster1.xml" Id="Rc6589fe2cd0e41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b22599c59743ad" /><Relationship Type="http://schemas.openxmlformats.org/officeDocument/2006/relationships/notesMaster" Target="/ppt/notesMasters/notesMaster1.xml" Id="R88161d7f32ed4e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e9d7105df543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1ae1190d27417a" /><Relationship Type="http://schemas.openxmlformats.org/officeDocument/2006/relationships/slideLayout" Target="/ppt/slideLayouts/slideLayout1.xml" Id="R94a6f26d0c2f4f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a6f26d0c2f4f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6dd3f5b0f4b5d" /><Relationship Type="http://schemas.openxmlformats.org/officeDocument/2006/relationships/notesSlide" Target="/ppt/notesSlides/notesSlide1.xml" Id="R4c9df28cdbb54a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6caa7db5b4819" /><Relationship Type="http://schemas.openxmlformats.org/officeDocument/2006/relationships/notesSlide" Target="/ppt/notesSlides/notesSlide2.xml" Id="Rcd28143687ec45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ea255c4fb24074" /><Relationship Type="http://schemas.openxmlformats.org/officeDocument/2006/relationships/notesSlide" Target="/ppt/notesSlides/notesSlide3.xml" Id="R25ada03f028146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49a6007d34a8e" /><Relationship Type="http://schemas.openxmlformats.org/officeDocument/2006/relationships/notesSlide" Target="/ppt/notesSlides/notesSlide4.xml" Id="R32180a1210da45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d9444563e49f8" /><Relationship Type="http://schemas.openxmlformats.org/officeDocument/2006/relationships/notesSlide" Target="/ppt/notesSlides/notesSlide5.xml" Id="R7bee1aec30f741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f54a4f888496c" /><Relationship Type="http://schemas.openxmlformats.org/officeDocument/2006/relationships/notesSlide" Target="/ppt/notesSlides/notesSlide6.xml" Id="R61201e8813f048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ef1d4729d4e92" /><Relationship Type="http://schemas.openxmlformats.org/officeDocument/2006/relationships/notesSlide" Target="/ppt/notesSlides/notesSlide7.xml" Id="Raf9d8ec81da54f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9727d57b845c8" /><Relationship Type="http://schemas.openxmlformats.org/officeDocument/2006/relationships/notesSlide" Target="/ppt/notesSlides/notesSlide8.xml" Id="R74040abb270940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5307d9b4649ce" /><Relationship Type="http://schemas.openxmlformats.org/officeDocument/2006/relationships/notesSlide" Target="/ppt/notesSlides/notesSlide9.xml" Id="R53520db5985e44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3029ad78246ce" /><Relationship Type="http://schemas.openxmlformats.org/officeDocument/2006/relationships/notesSlide" Target="/ppt/notesSlides/notesSlide10.xml" Id="R6f0a199466d74e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92a871dab4e3b" /><Relationship Type="http://schemas.openxmlformats.org/officeDocument/2006/relationships/notesSlide" Target="/ppt/notesSlides/notesSlide11.xml" Id="R91f26591e89a4a3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646E56D-16A5-4D7D-8585-FE7827A8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ECF69-70B6-4FFD-81AF-7973E618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3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E9CF9C0-D183-4BA4-9839-C87722D8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D3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894A492-4734-45EF-861F-B8EABD90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6D3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6D39B"/>
                </a:solidFill>
                <a:latin typeface="Microsoft YaHei"/>
                <a:ea typeface="Microsoft YaHei"/>
                <a:cs typeface="Microsoft YaHei"/>
              </a:rPr>
              <a:t>LINUX COURSE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403B0-62A0-4891-A5A6-4D7222D8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7239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rPr>
              <a:t>实验室 Linux</a:t>
            </a:r>
          </a:p>
          <a:p xmlns:a="http://schemas.openxmlformats.org/drawingml/2006/main">
            <a:pPr algn="l">
              <a:defRPr sz="435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rPr>
              <a:t>数字垃圾治理系统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E035B-AC27-487F-8058-B6D139A2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666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5CE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5CECF"/>
                </a:solidFill>
                <a:latin typeface="Microsoft YaHei"/>
                <a:ea typeface="Microsoft YaHei"/>
                <a:cs typeface="Microsoft YaHei"/>
              </a:rPr>
              <a:t>把不可见的空间浪费，变成可审计、可确认、可追溯的治理流程。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9AAA2-1603-4659-BBFE-84E95ABD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38600"/>
            <a:ext cx="6762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61D21"/>
          </a:solidFill>
          <a:ln xmlns:a="http://schemas.openxmlformats.org/drawingml/2006/main" w="9525">
            <a:solidFill>
              <a:srgbClr val="202A2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F48D28-FCC2-430B-B10F-AEAC8D5A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38600"/>
            <a:ext cx="676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A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C9E37-581A-4CF1-A09F-B428B19A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A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B5C70-43DD-43A6-B78D-9158FE98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152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EE19E-46F4-45F2-A078-E3A51075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52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D3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675B5A-6714-49F4-A294-3672CEE9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5962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rPr>
              <a:t>project menu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855E4-5302-4124-B030-8F4D4D81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6419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rPr>
              <a:t>$ ./scripts/run_all.sh</a:t>
            </a:r>
          </a:p>
          <a:p xmlns:a="http://schemas.openxmlformats.org/drawingml/2006/main">
            <a:pPr algn="l">
              <a:defRPr sz="112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rPr>
              <a:t>1  磁盘空间审计        5  Docker 资产巡检与回收</a:t>
            </a:r>
          </a:p>
          <a:p xmlns:a="http://schemas.openxmlformats.org/drawingml/2006/main">
            <a:pPr algn="l">
              <a:defRPr sz="112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rPr>
              <a:t>2  重复文件硬链接合并  6  构造测试混乱现场</a:t>
            </a:r>
          </a:p>
          <a:p xmlns:a="http://schemas.openxmlformats.org/drawingml/2006/main">
            <a:pPr algn="l">
              <a:defRPr sz="112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rPr>
              <a:t>3  白名单保护          7  日志与报告清理</a:t>
            </a:r>
          </a:p>
          <a:p xmlns:a="http://schemas.openxmlformats.org/drawingml/2006/main">
            <a:pPr algn="l">
              <a:defRPr sz="112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rPr>
              <a:t>4  过期目标归档        8  退出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3D9AA2-70F0-4119-9CA5-A443C329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00125"/>
            <a:ext cx="190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A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B7F450-B557-4481-B079-90AB0DFB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095375"/>
            <a:ext cx="266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56D39B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56D39B"/>
                </a:solidFill>
                <a:latin typeface="Cascadia Mono"/>
                <a:ea typeface="Cascadia Mono"/>
                <a:cs typeface="Cascadia Mono"/>
              </a:rPr>
              <a:t>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FF3483-EF78-420A-8CB8-BF825F86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04975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rPr>
              <a:t>核心功能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E973E9-8CAE-4E26-BE15-FB210387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00250"/>
            <a:ext cx="266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5CE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C5CECF"/>
                </a:solidFill>
                <a:latin typeface="Microsoft YaHei"/>
                <a:ea typeface="Microsoft YaHei"/>
                <a:cs typeface="Microsoft YaHei"/>
              </a:rPr>
              <a:t>一个统一菜单完成治理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7B9E17-CB13-4092-B13E-B49D708F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19375"/>
            <a:ext cx="266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B860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F4B860"/>
                </a:solidFill>
                <a:latin typeface="Cascadia Mono"/>
                <a:ea typeface="Cascadia Mono"/>
                <a:cs typeface="Cascadia Mono"/>
              </a:rPr>
              <a:t>30s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D4CA6E-835E-4578-848D-F9EC75B0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28975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rPr>
              <a:t>交互确认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6EFBD8-23F9-4A77-8A54-CBF8A8D0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24250"/>
            <a:ext cx="266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5CE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C5CECF"/>
                </a:solidFill>
                <a:latin typeface="Microsoft YaHei"/>
                <a:ea typeface="Microsoft YaHei"/>
                <a:cs typeface="Microsoft YaHei"/>
              </a:rPr>
              <a:t>超时自动返回，不执行破坏操作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383B49-18B1-4601-B227-C1F9CEDB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43375"/>
            <a:ext cx="266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3A9FF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63A9FF"/>
                </a:solidFill>
                <a:latin typeface="Cascadia Mono"/>
                <a:ea typeface="Cascadia Mono"/>
                <a:cs typeface="Cascadia Mono"/>
              </a:rPr>
              <a:t>TXT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1C48FF-1805-4778-8034-E75F9CD3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52975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rPr>
              <a:t>按日追加报告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B74F54-6EB9-44AA-9F9C-DC51E09F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048250"/>
            <a:ext cx="266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5CE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C5CECF"/>
                </a:solidFill>
                <a:latin typeface="Microsoft YaHei"/>
                <a:ea typeface="Microsoft YaHei"/>
                <a:cs typeface="Microsoft YaHei"/>
              </a:rPr>
              <a:t>reports/YYYY-MM-DD/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7A06DF-B1F2-4F8A-A1D8-27AF47FF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A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C8883F-3925-49A7-B271-2339A19E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6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969C"/>
                </a:solidFill>
                <a:latin typeface="Microsoft YaHei"/>
                <a:ea typeface="Microsoft YaHei"/>
                <a:cs typeface="Microsoft YaHei"/>
              </a:rPr>
              <a:t>Bash · Linux · Docker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B84702-44DA-4047-8FE6-A3CD167C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8177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69C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8A969C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079942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879E379-3133-4BDA-8F38-00BCE9B4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0DFE2B1-9E72-4451-916F-28216773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D51E36C-DE2A-4CC2-9D60-88F285FF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8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8B68"/>
                </a:solidFill>
                <a:latin typeface="Microsoft YaHei"/>
                <a:ea typeface="Microsoft YaHei"/>
                <a:cs typeface="Microsoft YaHei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C31FA-2BBA-4B60-B6FD-0420D425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47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四类“数字垃圾”，本质上都是失去生命周期管理的数据。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52FA3-C484-4490-8D6E-B0503CAC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81300"/>
            <a:ext cx="24288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14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rPr>
              <a:t>生命周期</a:t>
            </a:r>
          </a:p>
          <a:p xmlns:a="http://schemas.openxmlformats.org/drawingml/2006/main">
            <a:pPr algn="ctr">
              <a:defRPr sz="210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rPr>
              <a:t>失控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B24418-9CDD-40CC-AC59-0B60BD32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2571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7E2D7"/>
          </a:solidFill>
          <a:ln xmlns:a="http://schemas.openxmlformats.org/drawingml/2006/main" w="19050">
            <a:solidFill>
              <a:srgbClr val="2E8B68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重复文件</a:t>
            </a:r>
          </a:p>
          <a:p xmlns:a="http://schemas.openxmlformats.org/drawingml/2006/main">
            <a:pPr algn="ctr">
              <a:def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同一内容多份占用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A00785-68FE-4641-8D23-17955B3C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2571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7E2D7"/>
          </a:solidFill>
          <a:ln xmlns:a="http://schemas.openxmlformats.org/drawingml/2006/main" w="19050">
            <a:solidFill>
              <a:srgbClr val="F4B860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冷数据</a:t>
            </a:r>
          </a:p>
          <a:p xmlns:a="http://schemas.openxmlformats.org/drawingml/2006/main">
            <a:pPr algn="ctr">
              <a:def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长期不用却持续占空间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F6304B-F195-49E8-A790-464F2883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52650"/>
            <a:ext cx="2571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7E2D7"/>
          </a:solidFill>
          <a:ln xmlns:a="http://schemas.openxmlformats.org/drawingml/2006/main" w="19050">
            <a:solidFill>
              <a:srgbClr val="63A9FF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Docker 残留</a:t>
            </a:r>
          </a:p>
          <a:p xmlns:a="http://schemas.openxmlformats.org/drawingml/2006/main">
            <a:pPr algn="ctr">
              <a:defRPr sz="1200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退出容器 / 虚悬镜像 / 数据卷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C36CE-2CF8-4C93-94D7-249B1AC5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67200"/>
            <a:ext cx="2571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7E2D7"/>
          </a:solidFill>
          <a:ln xmlns:a="http://schemas.openxmlformats.org/drawingml/2006/main" w="19050">
            <a:solidFill>
              <a:srgbClr val="F06A6A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过期日志与报告</a:t>
            </a:r>
          </a:p>
          <a:p xmlns:a="http://schemas.openxmlformats.org/drawingml/2006/main">
            <a:pPr algn="ctr">
              <a:defRPr sz="1200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持续累积、缺少保留策略</a:t>
            </a:r>
          </a:p>
        </p:txBody>
      </p:sp>
      <p:cxnSp>
        <p:nvCxnSpPr>
          <p:cNvPr id="10" name="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352800" y="2619375"/>
            <a:ext cx="152400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8B68"/>
            </a:solidFill>
            <a:prstDash val="solid"/>
            <a:headEnd type="arrow" w="med" len="med"/>
          </a:ln>
        </p:spPr>
      </p:cxnSp>
      <p:cxnSp>
        <p:nvCxnSpPr>
          <p:cNvPr id="11" name=""/>
          <p:cNvCxnSpPr>
            <a:stCxn xmlns:a="http://schemas.openxmlformats.org/drawingml/2006/main" id="7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352800" y="3400425"/>
            <a:ext cx="152400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4B860"/>
            </a:solidFill>
            <a:prstDash val="solid"/>
            <a:headEnd type="arrow" w="med" len="med"/>
          </a:ln>
        </p:spPr>
      </p:cxnSp>
      <p:cxnSp>
        <p:nvCxnSpPr>
          <p:cNvPr id="12" name=""/>
          <p:cNvCxnSpPr>
            <a:stCxn xmlns:a="http://schemas.openxmlformats.org/drawingml/2006/main" id="8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7305675" y="2619375"/>
            <a:ext cx="1476375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A9FF"/>
            </a:solidFill>
            <a:prstDash val="solid"/>
            <a:headEnd type="arrow" w="med" len="med"/>
          </a:ln>
        </p:spPr>
      </p:cxnSp>
      <p:cxnSp>
        <p:nvCxnSpPr>
          <p:cNvPr id="13" name="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7305675" y="3400425"/>
            <a:ext cx="1476375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6A6A"/>
            </a:solidFill>
            <a:prstDash val="solid"/>
            <a:head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E961E7-7633-4855-8BA9-A0C135F9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243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8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8B68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AC63FC-6EC3-4824-8A51-1AA6E16A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695825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先发现，再判断；先展示，再确认；执行后留下报告。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3ACA6D-8645-4D8F-8A40-1C75D288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298125-561B-4037-836A-F8D9C259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rPr>
              <a:t>Linux 课程设计答辩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078C99-050B-41F6-8601-6CBF81F2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8177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37075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637075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730048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FA6797B-5239-42E8-86CF-75EF77E9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F582518-E50F-4D57-8A0A-7FF216A9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D3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34761E9-095F-4771-93B7-1D55BC31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6D3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6D39B"/>
                </a:solidFill>
                <a:latin typeface="Microsoft YaHei"/>
                <a:ea typeface="Microsoft YaHei"/>
                <a:cs typeface="Microsoft YaHei"/>
              </a:rPr>
              <a:t>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60C75-590D-4156-96F1-1DDC61F4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668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rPr>
              <a:t>一个菜单负责调度，公共库把安全策略与报告规则贯穿所有功能。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7D6DE-10DB-4A35-BA9F-31A41733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56D3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417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1">
                <a:solidFill>
                  <a:srgbClr val="101417"/>
                </a:solidFill>
                <a:latin typeface="Cascadia Mono"/>
                <a:ea typeface="Cascadia Mono"/>
                <a:cs typeface="Cascadia Mono"/>
              </a:rPr>
              <a:t>run_all.sh</a:t>
            </a:r>
          </a:p>
          <a:p xmlns:a="http://schemas.openxmlformats.org/drawingml/2006/main">
            <a:pPr algn="ctr">
              <a:defRPr sz="1425" b="1">
                <a:solidFill>
                  <a:srgbClr val="101417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1">
                <a:solidFill>
                  <a:srgbClr val="101417"/>
                </a:solidFill>
                <a:latin typeface="Cascadia Mono"/>
                <a:ea typeface="Cascadia Mono"/>
                <a:cs typeface="Cascadia Mono"/>
              </a:rPr>
              <a:t>统一交互菜单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16906-4B6A-4033-8817-5F8A10FA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43125"/>
            <a:ext cx="271462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202A2F"/>
          </a:solidFill>
          <a:ln xmlns:a="http://schemas.openxmlformats.org/drawingml/2006/main" w="19050">
            <a:solidFill>
              <a:srgbClr val="56D39B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rPr>
              <a:t>lib/common.sh</a:t>
            </a:r>
          </a:p>
          <a:p xmlns:a="http://schemas.openxmlformats.org/drawingml/2006/main">
            <a:pPr algn="ctr">
              <a:defRPr sz="127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rPr>
              <a:t>配置 / 白名单 / 日志 / 报告路径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B8F1A-C5FF-4B9C-9D38-6E0F8DEB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0975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02A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rPr>
              <a:t>审计 + 去重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DD473-CBDF-44DE-B4F2-1EEC722A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19375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02A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rPr>
              <a:t>过期归档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1A107-EA02-4740-98DC-87395009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2900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02A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rPr>
              <a:t>Docker 回收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5A9B64-7495-4202-BE5C-6111270E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38625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02A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rPr>
              <a:t>日志 / 报告清理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C47DE8-1E39-4D48-9ED2-621C6B07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193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417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01417"/>
                </a:solidFill>
                <a:latin typeface="Cascadia Mono"/>
                <a:ea typeface="Cascadia Mono"/>
                <a:cs typeface="Cascadia Mono"/>
              </a:rPr>
              <a:t>Linux 文件系统</a:t>
            </a:r>
          </a:p>
          <a:p xmlns:a="http://schemas.openxmlformats.org/drawingml/2006/main">
            <a:pPr algn="ctr">
              <a:defRPr sz="1200" b="1">
                <a:solidFill>
                  <a:srgbClr val="101417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01417"/>
                </a:solidFill>
                <a:latin typeface="Cascadia Mono"/>
                <a:ea typeface="Cascadia Mono"/>
                <a:cs typeface="Cascadia Mono"/>
              </a:rPr>
              <a:t>Docker Engine</a:t>
            </a:r>
          </a:p>
          <a:p xmlns:a="http://schemas.openxmlformats.org/drawingml/2006/main">
            <a:pPr algn="ctr">
              <a:defRPr sz="1200" b="1">
                <a:solidFill>
                  <a:srgbClr val="101417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01417"/>
                </a:solidFill>
                <a:latin typeface="Cascadia Mono"/>
                <a:ea typeface="Cascadia Mono"/>
                <a:cs typeface="Cascadia Mono"/>
              </a:rPr>
              <a:t>reports/YYYY-MM-DD</a:t>
            </a:r>
          </a:p>
        </p:txBody>
      </p:sp>
      <p:cxnSp>
        <p:nvCxnSpPr>
          <p:cNvPr id="1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571750" y="2924175"/>
            <a:ext cx="857250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6D39B"/>
            </a:solidFill>
            <a:prstDash val="solid"/>
            <a:headEnd type="arrow" w="med" len="med"/>
          </a:ln>
        </p:spPr>
      </p:cxnSp>
      <p:cxnSp>
        <p:nvCxnSpPr>
          <p:cNvPr id="1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6143625" y="2114550"/>
            <a:ext cx="904875" cy="8143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3A9FF"/>
            </a:solidFill>
            <a:prstDash val="solid"/>
            <a:headEnd type="arrow" w="med" len="med"/>
          </a:ln>
        </p:spPr>
      </p:cxnSp>
      <p:cxnSp>
        <p:nvCxnSpPr>
          <p:cNvPr id="14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858250" y="2114550"/>
            <a:ext cx="857250" cy="1219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5CECF"/>
            </a:solidFill>
            <a:prstDash val="solid"/>
            <a:headEnd type="arrow" w="med" len="med"/>
          </a:ln>
        </p:spPr>
      </p:cxnSp>
      <p:cxnSp>
        <p:nvCxnSpPr>
          <p:cNvPr id="15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143625" y="2924175"/>
            <a:ext cx="904875" cy="47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3A9FF"/>
            </a:solidFill>
            <a:prstDash val="solid"/>
            <a:headEnd type="arrow" w="med" len="med"/>
          </a:ln>
        </p:spPr>
      </p:cxnSp>
      <p:cxnSp>
        <p:nvCxnSpPr>
          <p:cNvPr id="16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858250" y="2924175"/>
            <a:ext cx="857250" cy="409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5CECF"/>
            </a:solidFill>
            <a:prstDash val="solid"/>
            <a:headEnd type="arrow" w="med" len="med"/>
          </a:ln>
        </p:spPr>
      </p:cxnSp>
      <p:cxnSp>
        <p:nvCxnSpPr>
          <p:cNvPr id="17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143625" y="2928938"/>
            <a:ext cx="904875" cy="8048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3A9FF"/>
            </a:solidFill>
            <a:prstDash val="solid"/>
            <a:headEnd type="arrow" w="med" len="med"/>
          </a:ln>
        </p:spPr>
      </p:cxnSp>
      <p:cxnSp>
        <p:nvCxnSpPr>
          <p:cNvPr id="18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8858250" y="3333750"/>
            <a:ext cx="857250" cy="400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5CECF"/>
            </a:solidFill>
            <a:prstDash val="solid"/>
            <a:headEnd type="arrow" w="med" len="med"/>
          </a:ln>
        </p:spPr>
      </p:cxnSp>
      <p:cxnSp>
        <p:nvCxnSpPr>
          <p:cNvPr id="19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143625" y="2928938"/>
            <a:ext cx="904875" cy="16144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3A9FF"/>
            </a:solidFill>
            <a:prstDash val="solid"/>
            <a:headEnd type="arrow" w="med" len="med"/>
          </a:ln>
        </p:spPr>
      </p:cxnSp>
      <p:cxnSp>
        <p:nvCxnSpPr>
          <p:cNvPr id="20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8858250" y="3333750"/>
            <a:ext cx="857250" cy="1209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5CECF"/>
            </a:solidFill>
            <a:prstDash val="solid"/>
            <a:head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52CD96-3DF9-4F30-B515-45A11CA0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1144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61D21"/>
          </a:solidFill>
          <a:ln xmlns:a="http://schemas.openxmlformats.org/drawingml/2006/main" w="9525">
            <a:solidFill>
              <a:srgbClr val="202A2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F58BE8-C1B3-49E6-B237-A82C2CB6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rPr>
              <a:t>安全层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A07628-CB18-417B-A63C-4490FAD0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343525"/>
            <a:ext cx="957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rPr>
              <a:t>白名单保护  ·  30 秒确认  ·  非交互自动取消  ·  压缩包验证后再删除  ·  项目目录与根目录保护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C59084-879E-4166-B238-CAC48C45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A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B89090-8FBC-4299-B522-91250963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6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969C"/>
                </a:solidFill>
                <a:latin typeface="Microsoft YaHei"/>
                <a:ea typeface="Microsoft YaHei"/>
                <a:cs typeface="Microsoft YaHei"/>
              </a:rPr>
              <a:t>Linux 课程设计答辩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27B73B-F9DD-4C06-9541-CE5B38B3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8177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69C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8A969C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2343365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CFAA4AC-6459-4053-9E5A-3781B950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87369B3-3EDC-4518-BCB0-69BD289F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F0CA15E-CF48-4F2E-B002-E66FE702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8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8B68"/>
                </a:solidFill>
                <a:latin typeface="Microsoft YaHei"/>
                <a:ea typeface="Microsoft YaHei"/>
                <a:cs typeface="Microsoft YaHei"/>
              </a:rPr>
              <a:t>CAPABILITY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2A3F4-A0C6-45D1-9C22-524F9A2F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47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八个入口覆盖“发现—优化—保护—自动治理”的完整闭环。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1E606D-D9C2-4BDB-8F2E-476149B6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333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3A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3A9FF"/>
                </a:solidFill>
                <a:latin typeface="Microsoft YaHei"/>
                <a:ea typeface="Microsoft YaHei"/>
                <a:cs typeface="Microsoft YaHei"/>
              </a:rPr>
              <a:t>发现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97113-A3F8-4DFD-9C34-137F3679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2333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D0F1A-B6D0-4C2F-93C2-F8B662E5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3A9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63A9FF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288B4-0DB0-4591-BE57-DADEF1BF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18383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磁盘空间审计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2D8398-6850-439C-90EA-D5E523DC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18383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rPr>
              <a:t>文件名 / 大小 / Inode / 实际占用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2CFA3-6437-4C23-95DA-07BD00B1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3A9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63A9FF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6FB578-6D90-4336-934F-C5EFB99F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18383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构造测试现场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63C778-16AF-417A-88BF-314051B0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95800"/>
            <a:ext cx="18383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rPr>
              <a:t>快速生成重复、过期与日志样例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C8C36-B003-4C00-80B2-F541904B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05000"/>
            <a:ext cx="2333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8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E8B68"/>
                </a:solidFill>
                <a:latin typeface="Microsoft YaHei"/>
                <a:ea typeface="Microsoft YaHei"/>
                <a:cs typeface="Microsoft YaHei"/>
              </a:rPr>
              <a:t>优化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42B9CE-478E-453D-8CFC-29F970C7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62200"/>
            <a:ext cx="2333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9894FA-3063-4A7B-ABAD-4A74CCE6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6700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8B6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2E8B68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26D21F-8186-43A1-990F-28F70411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647950"/>
            <a:ext cx="18383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重复文件清理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A68782-9B84-4C5D-97B9-57F6E32C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067050"/>
            <a:ext cx="18383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rPr>
              <a:t>硬链接合并，路径仍保留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F53E20-8856-4FF4-937B-C6E5E7AA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9575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8B6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2E8B68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C01F9D-19D2-423D-BF50-EB94D4FA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076700"/>
            <a:ext cx="18383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过期目标管理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8AC987-72BD-4641-9828-D224AE1C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495800"/>
            <a:ext cx="18383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rPr>
              <a:t>单目标压缩、验证后删除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BD433E-2BA2-44F5-8517-FF34C252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05000"/>
            <a:ext cx="2333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rPr>
              <a:t>保护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7E0543-1F7F-410C-9F45-2BAA9F2B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2333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986E5B-231E-4293-8B98-5B784EFA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B86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4B860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EED475-66F8-45F1-9486-0AC46F5D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47950"/>
            <a:ext cx="18383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白名单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528B52-7949-4362-9A20-BF109924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67050"/>
            <a:ext cx="18383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rPr>
              <a:t>文件与目录都可排除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2FDAE4-1AC3-4746-AB0E-A795D18C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B86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4B860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0EAFA4-9527-471F-9E59-28D8846A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76700"/>
            <a:ext cx="18383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Docker 巡检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37FC12-5336-4510-A22A-F3C9B779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95800"/>
            <a:ext cx="18383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rPr>
              <a:t>容器白名单与确认回收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62AE7A-0CFB-4BFD-A246-45722A2A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905000"/>
            <a:ext cx="2333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6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06A6A"/>
                </a:solidFill>
                <a:latin typeface="Microsoft YaHei"/>
                <a:ea typeface="Microsoft YaHei"/>
                <a:cs typeface="Microsoft YaHei"/>
              </a:rPr>
              <a:t>治理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0E511B-731B-4DE4-B88C-5AA9C612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62200"/>
            <a:ext cx="2333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A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C03369-A378-404C-8AF9-F9BC627A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6A6A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06A6A"/>
                </a:solidFill>
                <a:latin typeface="Cascadia Mono"/>
                <a:ea typeface="Cascadia Mono"/>
                <a:cs typeface="Cascadia Mono"/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1A7B8D-8131-48A9-980E-FDAF8FAE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647950"/>
            <a:ext cx="18383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日志与报告清理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E7D5F6-8CE4-4231-9E86-1F67802D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067050"/>
            <a:ext cx="18383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rPr>
              <a:t>手动天数 / 输入 0 清空 / cron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33CD13-03F0-42EC-878B-BFE95D1D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09575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6A6A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06A6A"/>
                </a:solidFill>
                <a:latin typeface="Cascadia Mono"/>
                <a:ea typeface="Cascadia Mono"/>
                <a:cs typeface="Cascadia Mono"/>
              </a:rPr>
              <a:t>08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455567-9658-4E26-B07E-D3D11E9C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076700"/>
            <a:ext cx="18383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退出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CD9C5C-F268-4890-B4E7-E3D4ABC1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495800"/>
            <a:ext cx="18383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rPr>
              <a:t>可预测、明确结束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AD47FC-2929-4CCC-B477-CA3E6853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478C16-2BC4-4483-8429-822AF5F2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72150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8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8B68"/>
                </a:solidFill>
                <a:latin typeface="Microsoft YaHei"/>
                <a:ea typeface="Microsoft YaHei"/>
                <a:cs typeface="Microsoft YaHei"/>
              </a:rPr>
              <a:t>统一原则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66EE7C-EE79-4619-AD99-92185CCB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43575"/>
            <a:ext cx="933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所有用户操作均可见；所有破坏性操作均需确认；所有执行结果均可追溯。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86EEF4-FBD2-435B-87FF-C9FD91BC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F2C26C-4F4B-416D-A9B2-E5A32005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rPr>
              <a:t>Linux 课程设计答辩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F6E49A-DA9F-4566-809F-ABE1471F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8177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37075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637075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853855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78E2410-627F-45C9-ABF9-AA709837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94E8466-1FDE-417C-B643-788B82F4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D3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C0E567E-1BCE-4FA8-8D98-88C54229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6D3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6D39B"/>
                </a:solidFill>
                <a:latin typeface="Microsoft YaHei"/>
                <a:ea typeface="Microsoft YaHei"/>
                <a:cs typeface="Microsoft YaHei"/>
              </a:rPr>
              <a:t>TECHNICAL HIGHLIGHT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F1DAF-E7E7-4B3A-966A-58FCB7F5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572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rPr>
              <a:t>硬链接让重复文件共享同一 Inode：路径不消失，实际占用减少。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B19AF-E45F-4A32-A3AC-02A61D70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6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06A6A"/>
                </a:solidFill>
                <a:latin typeface="Microsoft YaHei"/>
                <a:ea typeface="Microsoft YaHei"/>
                <a:cs typeface="Microsoft YaHei"/>
              </a:rPr>
              <a:t>合并前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355AB-327A-4F63-AE3B-79FAC249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247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02A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rPr>
              <a:t>test/cpp.zip</a:t>
            </a:r>
          </a:p>
          <a:p xmlns:a="http://schemas.openxmlformats.org/drawingml/2006/main">
            <a:pPr algn="ctr">
              <a:defRPr sz="112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rPr>
              <a:t>987.74 MB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A3A7F-E425-426E-A9DD-031EA455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247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02A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rPr>
              <a:t>test/bbb/cpp.zip</a:t>
            </a:r>
          </a:p>
          <a:p xmlns:a="http://schemas.openxmlformats.org/drawingml/2006/main">
            <a:pPr algn="ctr">
              <a:defRPr sz="112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rPr>
              <a:t>987.74 MB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DAEB5-410B-4569-9DFA-0FC3D523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06A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417"/>
                </a:solidFill>
                <a:latin typeface="Microsoft YaHei"/>
                <a:ea typeface="Microsoft YaHei"/>
                <a:cs typeface="Microsoft YaHei"/>
              </a:rPr>
              <a:t>数据块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5D6BC-6C96-4EFB-89B3-B0B3F2EA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43300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06A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417"/>
                </a:solidFill>
                <a:latin typeface="Microsoft YaHei"/>
                <a:ea typeface="Microsoft YaHei"/>
                <a:cs typeface="Microsoft YaHei"/>
              </a:rPr>
              <a:t>数据块 B</a:t>
            </a:r>
          </a:p>
        </p:txBody>
      </p:sp>
      <p:cxnSp>
        <p:nvCxnSpPr>
          <p:cNvPr id="10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43250" y="28194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6A6A"/>
            </a:solidFill>
            <a:prstDash val="solid"/>
            <a:headEnd type="arrow" w="med" len="med"/>
          </a:ln>
        </p:spPr>
      </p:cxnSp>
      <p:cxnSp>
        <p:nvCxnSpPr>
          <p:cNvPr id="1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43250" y="39338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6A6A"/>
            </a:solidFill>
            <a:prstDash val="solid"/>
            <a:head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6BC0C0-FEAF-421C-83CF-964E1455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D3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6D39B"/>
                </a:solidFill>
                <a:latin typeface="Microsoft YaHei"/>
                <a:ea typeface="Microsoft YaHei"/>
                <a:cs typeface="Microsoft YaHei"/>
              </a:rPr>
              <a:t>硬链接合并后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199705-0FED-4765-BEB4-EDB8F24C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28875"/>
            <a:ext cx="2286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02A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rPr>
              <a:t>test/cpp.zip</a:t>
            </a:r>
          </a:p>
          <a:p xmlns:a="http://schemas.openxmlformats.org/drawingml/2006/main">
            <a:pPr algn="ctr">
              <a:defRPr sz="112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rPr>
              <a:t>路径保留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31C60E-0678-4556-AC65-09DF23A5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43300"/>
            <a:ext cx="2286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02A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rPr>
              <a:t>test/bbb/cpp.zip</a:t>
            </a:r>
          </a:p>
          <a:p xmlns:a="http://schemas.openxmlformats.org/drawingml/2006/main">
            <a:pPr algn="ctr">
              <a:defRPr sz="112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rPr>
              <a:t>路径保留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34C27D-0B95-46D7-B3AE-5C4566DA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52750"/>
            <a:ext cx="2000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56D3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1417"/>
                </a:solidFill>
                <a:latin typeface="Microsoft YaHei"/>
                <a:ea typeface="Microsoft YaHei"/>
                <a:cs typeface="Microsoft YaHei"/>
              </a:rPr>
              <a:t>同一 Inode</a:t>
            </a:r>
          </a:p>
          <a:p xmlns:a="http://schemas.openxmlformats.org/drawingml/2006/main">
            <a:pPr algn="ctr">
              <a:defRPr sz="1425" b="1">
                <a:solidFill>
                  <a:srgbClr val="10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1417"/>
                </a:solidFill>
                <a:latin typeface="Microsoft YaHei"/>
                <a:ea typeface="Microsoft YaHei"/>
                <a:cs typeface="Microsoft YaHei"/>
              </a:rPr>
              <a:t>数据只存一份</a:t>
            </a:r>
          </a:p>
        </p:txBody>
      </p:sp>
      <p:cxnSp>
        <p:nvCxnSpPr>
          <p:cNvPr id="16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524875" y="2819400"/>
            <a:ext cx="714375" cy="6000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6D39B"/>
            </a:solidFill>
            <a:prstDash val="solid"/>
            <a:headEnd type="arrow" w="med" len="med"/>
          </a:ln>
        </p:spPr>
      </p:cxnSp>
      <p:cxnSp>
        <p:nvCxnSpPr>
          <p:cNvPr id="17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8524875" y="3419475"/>
            <a:ext cx="714375" cy="514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6D39B"/>
            </a:solidFill>
            <a:prstDash val="solid"/>
            <a:head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75CDB4-3911-4C28-8662-D993DEAD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572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61D21"/>
          </a:solidFill>
          <a:ln xmlns:a="http://schemas.openxmlformats.org/drawingml/2006/main" w="9525">
            <a:solidFill>
              <a:srgbClr val="202A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2F480B-F78D-4010-B1D7-F80E4AB3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rPr>
              <a:t>1.93 GB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0A9D67-BD2F-4B07-9F31-413334FF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626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rPr>
              <a:t>路径大小合计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8F80D3-C661-44C2-982C-AB9888FB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5300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3A9FF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63A9FF"/>
                </a:solidFill>
                <a:latin typeface="Cascadia Mono"/>
                <a:ea typeface="Cascadia Mono"/>
                <a:cs typeface="Cascadia Mono"/>
              </a:rPr>
              <a:t>987.76 MB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B641B4-FE7C-45E0-AF73-124BEE8A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626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rPr>
              <a:t>实际占用大小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9EF10E-4DF0-461B-91ED-2428EC93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53000"/>
            <a:ext cx="295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56D39B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56D39B"/>
                </a:solidFill>
                <a:latin typeface="Cascadia Mono"/>
                <a:ea typeface="Cascadia Mono"/>
                <a:cs typeface="Cascadia Mono"/>
              </a:rPr>
              <a:t>987.76 MB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BFB88A-9285-4AAF-97DB-557045ED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6260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rPr>
              <a:t>硬链接节省空间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9E7EB3-26DC-40E2-B8A2-7E3F7C15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A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247B14-B725-4288-8DF1-0CE9BF8D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6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969C"/>
                </a:solidFill>
                <a:latin typeface="Microsoft YaHei"/>
                <a:ea typeface="Microsoft YaHei"/>
                <a:cs typeface="Microsoft YaHei"/>
              </a:rPr>
              <a:t>证据：reports/2026-06-05/disk_audit.txt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54C763-B202-45C3-BD89-7E8839D6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8177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69C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8A969C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3466121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8C4C63C-29EB-4988-94F7-F0D35598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99E39F8-9ED5-4B09-9BAC-5DA4714D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D5BC8ED-82F5-4B2A-88F8-F3455831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8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8B68"/>
                </a:solidFill>
                <a:latin typeface="Microsoft YaHei"/>
                <a:ea typeface="Microsoft YaHei"/>
                <a:cs typeface="Microsoft YaHei"/>
              </a:rPr>
              <a:t>TECHNICAL HIGHLIGHT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AE2CF5-8E11-4968-A841-DBA4BE66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104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过期管理只处理用户明确输入的单个目标，避免对子文件逐个误操作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7AEA4-AF9B-4D9F-B9DE-3AB9ABC7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33625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14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rPr>
              <a:t>输入目标</a:t>
            </a:r>
          </a:p>
          <a:p xmlns:a="http://schemas.openxmlformats.org/drawingml/2006/main">
            <a:pPr algn="ctr">
              <a:defRPr sz="1200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rPr>
              <a:t>/mnt/d/acm/n1p1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E3598-506A-4ACE-9602-C20672C1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33625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7E2D7"/>
          </a:solidFill>
          <a:ln xmlns:a="http://schemas.openxmlformats.org/drawingml/2006/main" w="19050">
            <a:solidFill>
              <a:srgbClr val="F4B860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A242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1A2428"/>
                </a:solidFill>
                <a:latin typeface="Cascadia Mono"/>
                <a:ea typeface="Cascadia Mono"/>
                <a:cs typeface="Cascadia Mono"/>
              </a:rPr>
              <a:t>时间判断</a:t>
            </a:r>
          </a:p>
          <a:p xmlns:a="http://schemas.openxmlformats.org/drawingml/2006/main">
            <a:pPr algn="ctr">
              <a:defRPr sz="1125" b="1">
                <a:solidFill>
                  <a:srgbClr val="1A242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1A2428"/>
                </a:solidFill>
                <a:latin typeface="Cascadia Mono"/>
                <a:ea typeface="Cascadia Mono"/>
                <a:cs typeface="Cascadia Mono"/>
              </a:rPr>
              <a:t>mtime / atime / ctime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7F720-7612-4A85-996D-FDB62C37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33625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7E2D7"/>
          </a:solidFill>
          <a:ln xmlns:a="http://schemas.openxmlformats.org/drawingml/2006/main" w="19050">
            <a:solidFill>
              <a:srgbClr val="63A9FF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30 秒确认</a:t>
            </a:r>
          </a:p>
          <a:p xmlns:a="http://schemas.openxmlformats.org/drawingml/2006/main">
            <a:pPr algn="ctr">
              <a:defRPr sz="1200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未确认自动返回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514B34-7080-494D-9686-7F45C74E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33625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E8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tar.gz 验证成功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再删除原目标</a:t>
            </a:r>
          </a:p>
        </p:txBody>
      </p:sp>
      <p:cxnSp>
        <p:nvCxnSpPr>
          <p:cNvPr id="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552700" y="2771775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A2428"/>
            </a:solidFill>
            <a:prstDash val="solid"/>
            <a:headEnd type="arrow" w="med" len="med"/>
          </a:ln>
        </p:spPr>
      </p:cxnSp>
      <p:cxnSp>
        <p:nvCxnSpPr>
          <p:cNvPr id="1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372100" y="27717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A2428"/>
            </a:solidFill>
            <a:prstDash val="solid"/>
            <a:headEnd type="arrow" w="med" len="med"/>
          </a:ln>
        </p:spPr>
      </p:cxnSp>
      <p:cxnSp>
        <p:nvCxnSpPr>
          <p:cNvPr id="1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115300" y="27717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A2428"/>
            </a:solidFill>
            <a:prstDash val="solid"/>
            <a:head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BDD149-4A93-40D2-BD9C-59E43E0F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695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E2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D72635-D448-4C8E-A583-18E29E85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8B68"/>
                </a:solidFill>
                <a:latin typeface="Microsoft YaHei"/>
                <a:ea typeface="Microsoft YaHei"/>
                <a:cs typeface="Microsoft YaHei"/>
              </a:rPr>
              <a:t>真实执行结果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315871-9A8D-4037-B4B5-95D190E7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64198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61D21"/>
          </a:solidFill>
          <a:ln xmlns:a="http://schemas.openxmlformats.org/drawingml/2006/main" w="9525">
            <a:solidFill>
              <a:srgbClr val="202A2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159006-47EC-4A60-8993-29208925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6419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A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5C9637-510C-4C16-8FF7-603A323F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9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A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987016-0249-40E2-9CEB-EAA162C4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19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A0EBB2-931C-4DCA-8BD0-5D7EC154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9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D3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2775DB-F246-4DDE-8A75-5877B65C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71975"/>
            <a:ext cx="561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rPr>
              <a:t>expired_targets.txt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FD87DC-6D81-40F5-8E4C-648708FB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62500"/>
            <a:ext cx="6076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rPr>
              <a:t>目标原始大小: 555.52 MB</a:t>
            </a:r>
          </a:p>
          <a:p xmlns:a="http://schemas.openxmlformats.org/drawingml/2006/main">
            <a:pPr algn="l">
              <a:defRPr sz="82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rPr>
              <a:t>已压缩并删除原文件夹: /mnt/d/acm/n1p1</a:t>
            </a:r>
          </a:p>
          <a:p xmlns:a="http://schemas.openxmlformats.org/drawingml/2006/main">
            <a:pPr algn="l">
              <a:defRPr sz="82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rPr>
              <a:t>压缩包: /mnt/d/acm/n1p1.tar.gz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7E4BDD-0C40-4408-84A0-397641A2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33800"/>
            <a:ext cx="32004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14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681251-7842-463F-A0F7-B99B1056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624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rPr>
              <a:t>拒绝处理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D3CE54-58A9-4719-B0E1-D4C1994E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05300"/>
            <a:ext cx="2476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rPr>
              <a:t>系统根目录 /</a:t>
            </a:r>
          </a:p>
          <a:p xmlns:a="http://schemas.openxmlformats.org/drawingml/2006/main">
            <a:pPr algn="l">
              <a:defRPr sz="105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rPr>
              <a:t>项目目录及其上级目录</a:t>
            </a:r>
          </a:p>
          <a:p xmlns:a="http://schemas.openxmlformats.org/drawingml/2006/main">
            <a:pPr algn="l">
              <a:defRPr sz="105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rPr>
              <a:t>软链接</a:t>
            </a:r>
          </a:p>
          <a:p xmlns:a="http://schemas.openxmlformats.org/drawingml/2006/main">
            <a:pPr algn="l">
              <a:defRPr sz="105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rPr>
              <a:t>白名单目标</a:t>
            </a:r>
          </a:p>
          <a:p xmlns:a="http://schemas.openxmlformats.org/drawingml/2006/main">
            <a:pPr algn="l">
              <a:defRPr sz="105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rPr>
              <a:t>含白名单内容的文件夹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BBA2D4-BD9E-4A10-AE4E-31890E0B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7068B3-C868-4AC3-88CD-CC8507AE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rPr>
              <a:t>证据：reports/2026-06-05/expired_targets.txt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5B7E83-3D53-48DE-941E-BD3C0816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8177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37075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637075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601617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189237B-345E-4C33-98C9-9EB0A013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29C71AF-1613-458A-AC84-6250B27C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D3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B385704-0091-44C5-97A7-3289C4FB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6D3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6D39B"/>
                </a:solidFill>
                <a:latin typeface="Microsoft YaHei"/>
                <a:ea typeface="Microsoft YaHei"/>
                <a:cs typeface="Microsoft YaHei"/>
              </a:rPr>
              <a:t>TECHNICAL HIGHLIGHT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9FFC9-22D5-4AF5-BD8B-0201BD4B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572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rPr>
              <a:t>Docker 巡检把三类不可见残留，汇总成一张可确认的回收清单。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F55F4-798F-4233-9FE3-D3716BEE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6858000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161D21"/>
          </a:solidFill>
          <a:ln xmlns:a="http://schemas.openxmlformats.org/drawingml/2006/main" w="9525">
            <a:solidFill>
              <a:srgbClr val="202A2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7910D-B714-40C0-86EE-E80DD25B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A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AB886-E412-48AF-9510-FE6E5731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A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D9938-F633-40BD-9AF5-7757328E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038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66D43-F7F1-44A5-A8B7-8262B1DA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D3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C6EB86-A863-4EF6-8BDE-E1137563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90725"/>
            <a:ext cx="605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rPr>
              <a:t>docker_audit.txt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4301E2-09C3-430E-B229-9EDA95CB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6515100" cy="305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rPr>
              <a:t>一、退出超过 0 天的容器</a:t>
            </a:r>
          </a:p>
          <a:p xmlns:a="http://schemas.openxmlformats.org/drawingml/2006/main">
            <a:pPr algn="l">
              <a:defRPr sz="97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rPr>
              <a:t>候选容器: lab_ops_demo_exited_1</a:t>
            </a:r>
          </a:p>
          <a:p xmlns:a="http://schemas.openxmlformats.org/drawingml/2006/main">
            <a:pPr algn="l">
              <a:defRPr sz="97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rPr>
              <a:t>候选容器: lab_ops_demo_exited_2</a:t>
            </a:r>
          </a:p>
          <a:p xmlns:a="http://schemas.openxmlformats.org/drawingml/2006/main">
            <a:pPr algn="l">
              <a:defRPr sz="97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rPr>
              <a:t>跳过白名单容器: lab_ops_demo_protected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rPr>
              <a:t>二、虚悬镜像 dangling images</a:t>
            </a:r>
          </a:p>
          <a:p xmlns:a="http://schemas.openxmlformats.org/drawingml/2006/main">
            <a:pPr algn="l">
              <a:defRPr sz="97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rPr>
              <a:t>候选镜像: 1ab8412616f6</a:t>
            </a:r>
          </a:p>
          <a:p xmlns:a="http://schemas.openxmlformats.org/drawingml/2006/main">
            <a:pPr algn="l">
              <a:defRPr sz="97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rPr>
              <a:t>候选镜像: d518bca82124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rPr>
              <a:t>三、僵尸数据卷 dangling volumes</a:t>
            </a:r>
          </a:p>
          <a:p xmlns:a="http://schemas.openxmlformats.org/drawingml/2006/main">
            <a:pPr algn="l">
              <a:defRPr sz="97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rPr>
              <a:t>候选数据卷: lab_ops_demo_unused_volume_1</a:t>
            </a:r>
          </a:p>
          <a:p xmlns:a="http://schemas.openxmlformats.org/drawingml/2006/main">
            <a:pPr algn="l">
              <a:defRPr sz="97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C5CECF"/>
                </a:solidFill>
                <a:latin typeface="Cascadia Mono"/>
                <a:ea typeface="Cascadia Mono"/>
                <a:cs typeface="Cascadia Mono"/>
              </a:rPr>
              <a:t>候选数据卷: lab_ops_demo_unused_volume_2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CE5F29-191A-4713-B808-8908F01D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52625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5CE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5CECF"/>
                </a:solidFill>
                <a:latin typeface="Microsoft YaHei"/>
                <a:ea typeface="Microsoft YaHei"/>
                <a:cs typeface="Microsoft YaHei"/>
              </a:rPr>
              <a:t>回收候选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D8202B-188D-4F82-BE49-5B2A8F6A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81250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3A9FF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63A9FF"/>
                </a:solidFill>
                <a:latin typeface="Cascadia Mono"/>
                <a:ea typeface="Cascadia Mono"/>
                <a:cs typeface="Cascadia Mon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7437BA-F1FB-46C4-8191-92025DEC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908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rPr>
              <a:t>退出容器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84E4DF-A2CA-41AC-9DD0-08303F25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381250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B860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F4B860"/>
                </a:solidFill>
                <a:latin typeface="Cascadia Mono"/>
                <a:ea typeface="Cascadia Mono"/>
                <a:cs typeface="Cascadia Mono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7D1955-3EBD-4C91-B647-83668230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9908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rPr>
              <a:t>虚悬镜像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A210B8-0EA1-41C2-81BB-7E6DD355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57625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06A6A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F06A6A"/>
                </a:solidFill>
                <a:latin typeface="Cascadia Mono"/>
                <a:ea typeface="Cascadia Mono"/>
                <a:cs typeface="Cascadia Mono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7B27D9-12FA-4A4E-97DF-34B08009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67225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rPr>
              <a:t>僵尸数据卷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0596A0-FE1C-4FBB-BB51-4E111E9E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857625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56D39B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56D39B"/>
                </a:solidFill>
                <a:latin typeface="Cascadia Mono"/>
                <a:ea typeface="Cascadia Mono"/>
                <a:cs typeface="Cascadia Mono"/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BD7A5A-A819-47F5-B2C3-BCE28210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467225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rPr>
              <a:t>候选资产总数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06CE26-A88B-419E-A1F1-BFC09B78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381625"/>
            <a:ext cx="3124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02A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44633F-BC82-413F-AEE0-86E4BC52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419725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6D39B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56D39B"/>
                </a:solidFill>
                <a:latin typeface="Cascadia Mono"/>
                <a:ea typeface="Cascadia Mono"/>
                <a:cs typeface="Cascadia Mono"/>
              </a:rPr>
              <a:t>白名单容器保留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7E7042-031D-409A-8538-BAFA8742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A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760743-5934-4EE0-9369-E641B86B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6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969C"/>
                </a:solidFill>
                <a:latin typeface="Microsoft YaHei"/>
                <a:ea typeface="Microsoft YaHei"/>
                <a:cs typeface="Microsoft YaHei"/>
              </a:rPr>
              <a:t>证据：reports/2026-06-05/docker_audit.txt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81BC49-2502-42D1-BC22-773F0109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8177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69C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8A969C"/>
                </a:solidFill>
                <a:latin typeface="Cascadia Mono"/>
                <a:ea typeface="Cascadia Mono"/>
                <a:cs typeface="Cascadia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0022974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FAC1F25-AAD0-475A-A6EC-4373197F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6018BE5-1451-48F5-A093-1C87C755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60897C0-AD0E-4784-AB8F-3AA81617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8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8B68"/>
                </a:solidFill>
                <a:latin typeface="Microsoft YaHei"/>
                <a:ea typeface="Microsoft YaHei"/>
                <a:cs typeface="Microsoft YaHei"/>
              </a:rPr>
              <a:t>RETENTION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2EDDB-42B9-479A-A85B-31022EEC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572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日志与报告不再无限增长：手动清理与每日定时任务共同治理。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12091-6FDC-49C9-81A5-32FA65E2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48050"/>
            <a:ext cx="981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40ABA2-526C-49E0-A9D1-C642BADC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314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B42E93-D7DB-4143-B2AC-D8E9B1E6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333625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运行功能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7A445-7E51-45C8-A896-77F54DC5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33675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rPr>
              <a:t>脚本写入 logs/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5C6FC-FB7C-4E52-A2A1-8C1C092E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314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B95D8B-DB6D-410C-B79A-8484A1DC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048125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生成报告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E9FFF-5B41-49A5-99D3-4B404294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48175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rPr>
              <a:t>追加到 reports/日期/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ED3DC3-69CD-409D-A330-FED40C35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314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C2EF97-86D0-4731-9861-478CFBA6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33625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用户输入 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64CECF-5431-4F8D-9B8F-C1F2A98C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33675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rPr>
              <a:t>清理 N 天前内容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19A259-5604-4283-A22D-B6E32EB6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314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A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694621-6E92-41F1-9F32-07EEA545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48125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用户输入 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227180-3AE5-4583-8449-F5BCF741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48175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rPr>
              <a:t>清空 logs 与 reports 内容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9867CA-5283-4E8A-9FA2-FE054687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314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035003-8EEB-4091-9C23-552CD740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333625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每日 02:30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45ECD8-8812-4323-B537-D7816AF5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33675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rPr>
              <a:t>crontab 自动清理 30 天前内容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FB923E-60EE-4A75-83F1-9CF0D77E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11049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14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2CFB19-CA16-424A-A5C9-6AF06F69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D3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6D39B"/>
                </a:solidFill>
                <a:latin typeface="Microsoft YaHei"/>
                <a:ea typeface="Microsoft YaHei"/>
                <a:cs typeface="Microsoft YaHei"/>
              </a:rPr>
              <a:t>报告模式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A03600-0876-45BA-AD42-5CA34A6D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43550"/>
            <a:ext cx="923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rPr>
              <a:t>reports/YYYY-MM-DD/*.txt 采用追加写入：同一天多次运行，同一功能的历史记录仍完整保留。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6B234E-7D65-461D-B8E1-B4EC50DE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B916EE-5985-479A-A985-431A733F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rPr>
              <a:t>Linux 课程设计答辩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C5CC3A-2514-44E7-8E10-B679ED36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8177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37075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637075"/>
                </a:solidFill>
                <a:latin typeface="Cascadia Mono"/>
                <a:ea typeface="Cascadia Mono"/>
                <a:cs typeface="Cascadia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295892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CB9D808-1CBF-4B19-B283-3EA80A1A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927F7FF-3580-48DD-BB8C-7306EBBC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D3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FF8820C-4BA5-4BC3-92CA-FD8B3E1E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6D3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6D39B"/>
                </a:solidFill>
                <a:latin typeface="Microsoft YaHei"/>
                <a:ea typeface="Microsoft YaHei"/>
                <a:cs typeface="Microsoft YaHei"/>
              </a:rPr>
              <a:t>SAFETY BY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21448-0057-4949-A165-3E830DA1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572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rPr>
              <a:t>安全不是一句提示，而是每次删除前必须依次通过的执行门。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CB7DA-0743-4F60-A02B-4BECBDAB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33625"/>
            <a:ext cx="18669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02A2F"/>
          </a:solidFill>
          <a:ln xmlns:a="http://schemas.openxmlformats.org/drawingml/2006/main" w="19050">
            <a:solidFill>
              <a:srgbClr val="63A9FF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  <a:p xmlns:a="http://schemas.openxmlformats.org/drawingml/2006/main">
            <a:pPr algn="ctr">
              <a:defRPr sz="127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rPr>
              <a:t>输入校验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D9092-5086-4531-A436-ADE861CA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5CE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C5CECF"/>
                </a:solidFill>
                <a:latin typeface="Microsoft YaHei"/>
                <a:ea typeface="Microsoft YaHei"/>
                <a:cs typeface="Microsoft YaHei"/>
              </a:rPr>
              <a:t>路径存在、参数合法、目标类型正确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92277-54EE-4B68-B911-7635B08B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33625"/>
            <a:ext cx="18669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02A2F"/>
          </a:solidFill>
          <a:ln xmlns:a="http://schemas.openxmlformats.org/drawingml/2006/main" w="19050">
            <a:solidFill>
              <a:srgbClr val="56D39B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  <a:p xmlns:a="http://schemas.openxmlformats.org/drawingml/2006/main">
            <a:pPr algn="ctr">
              <a:defRPr sz="127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rPr>
              <a:t>白名单检查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11DCC-CE98-40DD-8557-0B77015F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242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5CE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C5CECF"/>
                </a:solidFill>
                <a:latin typeface="Microsoft YaHei"/>
                <a:ea typeface="Microsoft YaHei"/>
                <a:cs typeface="Microsoft YaHei"/>
              </a:rPr>
              <a:t>目标与目标内部内容都受保护</a:t>
            </a:r>
          </a:p>
        </p:txBody>
      </p:sp>
      <p:cxnSp>
        <p:nvCxnSpPr>
          <p:cNvPr id="9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19350" y="28098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5CECF"/>
            </a:solidFill>
            <a:prstDash val="solid"/>
            <a:headEnd type="arrow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A7E67-6EFE-47BC-88C4-791BAB39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33625"/>
            <a:ext cx="18669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02A2F"/>
          </a:solidFill>
          <a:ln xmlns:a="http://schemas.openxmlformats.org/drawingml/2006/main" w="19050">
            <a:solidFill>
              <a:srgbClr val="F4B860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  <a:p xmlns:a="http://schemas.openxmlformats.org/drawingml/2006/main">
            <a:pPr algn="ctr">
              <a:defRPr sz="127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rPr>
              <a:t>候选清单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FD11DE-02BF-4459-9192-4C0EBE2F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242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5CE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C5CECF"/>
                </a:solidFill>
                <a:latin typeface="Microsoft YaHei"/>
                <a:ea typeface="Microsoft YaHei"/>
                <a:cs typeface="Microsoft YaHei"/>
              </a:rPr>
              <a:t>先显示文件名、路径、大小与动作</a:t>
            </a:r>
          </a:p>
        </p:txBody>
      </p:sp>
      <p:cxnSp>
        <p:nvCxnSpPr>
          <p:cNvPr id="12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686300" y="28098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5CECF"/>
            </a:solidFill>
            <a:prstDash val="solid"/>
            <a:head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E5B7F-ED1B-41C9-A820-D3F1DECB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33625"/>
            <a:ext cx="18669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02A2F"/>
          </a:solidFill>
          <a:ln xmlns:a="http://schemas.openxmlformats.org/drawingml/2006/main" w="19050">
            <a:solidFill>
              <a:srgbClr val="F06A6A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  <a:p xmlns:a="http://schemas.openxmlformats.org/drawingml/2006/main">
            <a:pPr algn="ctr">
              <a:defRPr sz="127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rPr>
              <a:t>人工确认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52AEB5-565D-498E-BF4E-EAAED025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242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5CE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C5CECF"/>
                </a:solidFill>
                <a:latin typeface="Microsoft YaHei"/>
                <a:ea typeface="Microsoft YaHei"/>
                <a:cs typeface="Microsoft YaHei"/>
              </a:rPr>
              <a:t>30 秒内输入 y；超时自动返回</a:t>
            </a:r>
          </a:p>
        </p:txBody>
      </p:sp>
      <p:cxnSp>
        <p:nvCxnSpPr>
          <p:cNvPr id="15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953250" y="28098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5CECF"/>
            </a:solidFill>
            <a:prstDash val="solid"/>
            <a:head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9A1006-3435-4E4B-AA1E-EDE6C916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33625"/>
            <a:ext cx="18669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02A2F"/>
          </a:solidFill>
          <a:ln xmlns:a="http://schemas.openxmlformats.org/drawingml/2006/main" w="19050">
            <a:solidFill>
              <a:srgbClr val="56D39B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  <a:p xmlns:a="http://schemas.openxmlformats.org/drawingml/2006/main">
            <a:pPr algn="ctr">
              <a:defRPr sz="127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3F0E8"/>
                </a:solidFill>
                <a:latin typeface="Cascadia Mono"/>
                <a:ea typeface="Cascadia Mono"/>
                <a:cs typeface="Cascadia Mono"/>
              </a:rPr>
              <a:t>执行后验证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ABBFAF-8F3F-4F9B-8ED6-C382188C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242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5CE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C5CECF"/>
                </a:solidFill>
                <a:latin typeface="Microsoft YaHei"/>
                <a:ea typeface="Microsoft YaHei"/>
                <a:cs typeface="Microsoft YaHei"/>
              </a:rPr>
              <a:t>压缩包可读、报告追加、错误留痕</a:t>
            </a:r>
          </a:p>
        </p:txBody>
      </p:sp>
      <p:cxnSp>
        <p:nvCxnSpPr>
          <p:cNvPr id="18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220200" y="28098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5CECF"/>
            </a:solidFill>
            <a:prstDash val="solid"/>
            <a:head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570BB8-0660-4F58-A9AD-9C82068E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24375"/>
            <a:ext cx="1104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3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FF95BE-8DF5-4267-97A3-0B998925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295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E8B68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2E8B68"/>
                </a:solidFill>
                <a:latin typeface="Cascadia Mono"/>
                <a:ea typeface="Cascadia Mono"/>
                <a:cs typeface="Cascadia Mono"/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121144-0017-4C8A-A404-9DA9C2AA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非交互终端自动执行次数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1645FE-552B-4C82-87B5-9CF78F71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53075"/>
            <a:ext cx="2952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rPr>
              <a:t>无 TTY 时直接取消破坏操作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4DBE00-C027-4075-A707-BE00D1F7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482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3A9FF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63A9FF"/>
                </a:solidFill>
                <a:latin typeface="Cascadia Mono"/>
                <a:ea typeface="Cascadia Mono"/>
                <a:cs typeface="Cascadia Mono"/>
              </a:rPr>
              <a:t>2×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EAF3D7-16BB-4550-B8EC-B60B9C61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578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执行前检查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C5CECD-8D4C-4AFF-9EE8-25ADBEB7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553075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rPr>
              <a:t>确认前后再次检查目标与白名单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DD3D3A-7EE0-440F-B789-C7DCBA81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482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06A6A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F06A6A"/>
                </a:solidFill>
                <a:latin typeface="Cascadia Mono"/>
                <a:ea typeface="Cascadia Mono"/>
                <a:cs typeface="Cascadia Mono"/>
              </a:rPr>
              <a:t>100%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3242AA-52B1-47F1-92F2-6DB05E57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578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关键操作可追溯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F63801-5558-42C8-9E3E-A5AAC369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53075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rPr>
              <a:t>日志 + 按日追加报告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69B2E9-83EE-4CA9-B2F6-63FA3770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A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4F5271-DC43-4A12-B802-ED1CAE07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6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969C"/>
                </a:solidFill>
                <a:latin typeface="Microsoft YaHei"/>
                <a:ea typeface="Microsoft YaHei"/>
                <a:cs typeface="Microsoft YaHei"/>
              </a:rPr>
              <a:t>Linux 课程设计答辩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4B38B6-CC5B-44A0-A1A8-CE20D433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8177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69C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8A969C"/>
                </a:solidFill>
                <a:latin typeface="Cascadia Mono"/>
                <a:ea typeface="Cascadia Mono"/>
                <a:cs typeface="Cascadia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4410449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2E6232B-209C-42A8-9A5A-24FD3C91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950601F-8447-4E50-86BA-0F6F1274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60CBEBC-9F50-4471-B213-C6A9CFAE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8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8B68"/>
                </a:solidFill>
                <a:latin typeface="Microsoft YaHei"/>
                <a:ea typeface="Microsoft YaHei"/>
                <a:cs typeface="Microsoft YaHei"/>
              </a:rPr>
              <a:t>LIVE DEMO RUNBOOK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2EFDA9-F119-4E95-8584-01A83C0A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572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六分钟现场演示：用一条闭环证明“发现、优化、回收、留痕”。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FC563-B008-4468-BBE0-044E552C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A9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3A9FF"/>
                </a:solidFill>
                <a:latin typeface="Cascadia Mono"/>
                <a:ea typeface="Cascadia Mono"/>
                <a:cs typeface="Cascadia Mono"/>
              </a:rPr>
              <a:t>00:00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061C4-22D4-406C-AD80-E17CF117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3357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E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18733-2E55-44FD-9D5F-429491C2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9716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3A9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63A9FF"/>
                </a:solidFill>
                <a:latin typeface="Cascadia Mono"/>
                <a:ea typeface="Cascadia Mono"/>
                <a:cs typeface="Cascadia Mono"/>
              </a:rPr>
              <a:t>功能 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8B4AC-5299-4B34-B3BD-2E65A098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914525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构造测试混乱现场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D787B-3C1F-4BC4-86C9-15658EC6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95525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rPr>
              <a:t>生成重复文件、过期目录与日志样例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01936-162A-4A9A-9446-EBD4B6B9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BB8B68-660D-4219-92BE-F40570FB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9925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A9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3A9FF"/>
                </a:solidFill>
                <a:latin typeface="Cascadia Mono"/>
                <a:ea typeface="Cascadia Mono"/>
                <a:cs typeface="Cascadia Mono"/>
              </a:rPr>
              <a:t>00:45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A93A96-2B0B-44C4-84F4-A2A1C0BA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9087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E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587681-DE3E-4DBD-A2D2-5005AE49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289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3A9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63A9FF"/>
                </a:solidFill>
                <a:latin typeface="Cascadia Mono"/>
                <a:ea typeface="Cascadia Mono"/>
                <a:cs typeface="Cascadia Mono"/>
              </a:rPr>
              <a:t>功能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79DFA4-8C07-45A0-9416-ED286465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71825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磁盘空间审计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5981DD-8BF0-48AB-8A21-162E5B76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52825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rPr>
              <a:t>展示路径大小、实际占用与 Inode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F758F1-122E-4B5B-AA6A-07FDD380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8C3EA2-7344-4887-857E-0E29E7F5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67225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A9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3A9FF"/>
                </a:solidFill>
                <a:latin typeface="Cascadia Mono"/>
                <a:ea typeface="Cascadia Mono"/>
                <a:cs typeface="Cascadia Mono"/>
              </a:rPr>
              <a:t>01:45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7C754A-837F-4CE3-B87E-A02AAB9F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4817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E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2633DC-6DBF-4BAA-A722-7EA75682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862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3A9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63A9FF"/>
                </a:solidFill>
                <a:latin typeface="Cascadia Mono"/>
                <a:ea typeface="Cascadia Mono"/>
                <a:cs typeface="Cascadia Mono"/>
              </a:rPr>
              <a:t>功能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BF294-D3CE-4B9A-A199-EA86AEFD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29125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重复文件硬链接合并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359776-B020-4799-A753-4053990A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0125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rPr>
              <a:t>确认后路径不变、实际占用下降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89F5E2-152F-4321-949C-58DDDC07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B68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E8B68"/>
                </a:solidFill>
                <a:latin typeface="Cascadia Mono"/>
                <a:ea typeface="Cascadia Mono"/>
                <a:cs typeface="Cascadia Mono"/>
              </a:rPr>
              <a:t>03:00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4F5CD8-13CF-4472-8540-D33D6FFE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3357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E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737EE8-E0AF-4F19-AB03-EFF332E9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716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8B6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2E8B68"/>
                </a:solidFill>
                <a:latin typeface="Cascadia Mono"/>
                <a:ea typeface="Cascadia Mono"/>
                <a:cs typeface="Cascadia Mono"/>
              </a:rPr>
              <a:t>功能 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989D25-7F6B-44E2-A1B0-6F7A0029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14525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Docker 资产巡检与回收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B1C5F8-B4BC-4C06-A3EF-50A7F3D4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95525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rPr>
              <a:t>2 容器 + 2 镜像 + 2 数据卷；白名单跳过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1CAF15-EA4C-4056-B402-0CE10A81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337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A61780-3D1A-47AF-B94A-42467980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A9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3A9FF"/>
                </a:solidFill>
                <a:latin typeface="Cascadia Mono"/>
                <a:ea typeface="Cascadia Mono"/>
                <a:cs typeface="Cascadia Mono"/>
              </a:rPr>
              <a:t>04:30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8E6D00-F5E3-495B-846C-818CEFF7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9087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E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5E208B-80A8-4C63-B550-9A4B6740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289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3A9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63A9FF"/>
                </a:solidFill>
                <a:latin typeface="Cascadia Mono"/>
                <a:ea typeface="Cascadia Mono"/>
                <a:cs typeface="Cascadia Mono"/>
              </a:rPr>
              <a:t>功能 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29FD45-C4C7-405D-B4A4-A11452C6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71825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过期目标归档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9F3D8E-6E8E-42F1-BD96-5CB9DEC9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52825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rPr>
              <a:t>压缩包验证成功后删除原目标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2528FC-E01C-454F-8142-FA83A30D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910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A5B67F-3924-4BDD-B9F7-CD38D08E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67225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A9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3A9FF"/>
                </a:solidFill>
                <a:latin typeface="Cascadia Mono"/>
                <a:ea typeface="Cascadia Mono"/>
                <a:cs typeface="Cascadia Mono"/>
              </a:rPr>
              <a:t>05:30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DBA99D-244E-4D0F-B07A-AEDC7918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4817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E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529993-805F-4218-990A-04C47D98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3A9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63A9FF"/>
                </a:solidFill>
                <a:latin typeface="Cascadia Mono"/>
                <a:ea typeface="Cascadia Mono"/>
                <a:cs typeface="Cascadia Mono"/>
              </a:rPr>
              <a:t>功能 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9FA60B-0959-450C-BEEB-6816DBA6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29125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2428"/>
                </a:solidFill>
                <a:latin typeface="Microsoft YaHei"/>
                <a:ea typeface="Microsoft YaHei"/>
                <a:cs typeface="Microsoft YaHei"/>
              </a:rPr>
              <a:t>日志与报告清理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270B91-E7CD-496E-A7A6-60D044C6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10125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rPr>
              <a:t>输入天数；输入 0 可完整清空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15F4D5-8E19-4C48-896B-33581F85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104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14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355B2B-95CD-4DE0-BF19-1116A57A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67400"/>
            <a:ext cx="1066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rPr>
              <a:t>答辩提示：每一步先让老师看候选清单，再输入 y；演示完成后打开 reports/当天日期/ 查看留痕。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B8D5C7-8949-4602-A6A6-61B54DFC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3C8673-E92A-4A76-B70F-20F9B7AE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37075"/>
                </a:solidFill>
                <a:latin typeface="Microsoft YaHei"/>
                <a:ea typeface="Microsoft YaHei"/>
                <a:cs typeface="Microsoft YaHei"/>
              </a:rPr>
              <a:t>Linux 课程设计答辩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8A4884-7087-4DAF-8F02-955E8E16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8177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37075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637075"/>
                </a:solidFill>
                <a:latin typeface="Cascadia Mono"/>
                <a:ea typeface="Cascadia Mono"/>
                <a:cs typeface="Cascadia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7185434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6FC0C9E-DDAB-4476-A232-F33F4037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0C9CBE2-07E5-4ECC-9853-B073F91F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D3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3E8BE11-4CC1-4D4D-98E9-8E746D60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6D3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6D39B"/>
                </a:solidFill>
                <a:latin typeface="Microsoft YaHei"/>
                <a:ea typeface="Microsoft YaHei"/>
                <a:cs typeface="Microsoft YaHei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EAF02-3D89-4D8A-A6DE-BF23B892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572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rPr>
              <a:t>项目的价值不只是“删除文件”，而是建立一套可控的 Linux 治理闭环。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11791-CC9D-4E52-B0EB-B4D9E09E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2190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63A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417"/>
                </a:solidFill>
                <a:latin typeface="Microsoft YaHei"/>
                <a:ea typeface="Microsoft YaHei"/>
                <a:cs typeface="Microsoft YaHei"/>
              </a:rPr>
              <a:t>发现</a:t>
            </a:r>
          </a:p>
          <a:p xmlns:a="http://schemas.openxmlformats.org/drawingml/2006/main">
            <a:pPr algn="ctr">
              <a:defRPr sz="1500" b="1">
                <a:solidFill>
                  <a:srgbClr val="10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417"/>
                </a:solidFill>
                <a:latin typeface="Microsoft YaHei"/>
                <a:ea typeface="Microsoft YaHei"/>
                <a:cs typeface="Microsoft YaHei"/>
              </a:rPr>
              <a:t>审计与候选识别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C3743-1A83-41F9-B295-DF36154D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28875"/>
            <a:ext cx="2190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417"/>
                </a:solidFill>
                <a:latin typeface="Microsoft YaHei"/>
                <a:ea typeface="Microsoft YaHei"/>
                <a:cs typeface="Microsoft YaHei"/>
              </a:rPr>
              <a:t>确认</a:t>
            </a:r>
          </a:p>
          <a:p xmlns:a="http://schemas.openxmlformats.org/drawingml/2006/main">
            <a:pPr algn="ctr">
              <a:defRPr sz="1500" b="1">
                <a:solidFill>
                  <a:srgbClr val="10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417"/>
                </a:solidFill>
                <a:latin typeface="Microsoft YaHei"/>
                <a:ea typeface="Microsoft YaHei"/>
                <a:cs typeface="Microsoft YaHei"/>
              </a:rPr>
              <a:t>白名单与 30 秒交互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878817-A440-4C53-B7C0-74ABAD87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28875"/>
            <a:ext cx="2190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56D3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417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  <a:p xmlns:a="http://schemas.openxmlformats.org/drawingml/2006/main">
            <a:pPr algn="ctr">
              <a:defRPr sz="1500" b="1">
                <a:solidFill>
                  <a:srgbClr val="10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417"/>
                </a:solidFill>
                <a:latin typeface="Microsoft YaHei"/>
                <a:ea typeface="Microsoft YaHei"/>
                <a:cs typeface="Microsoft YaHei"/>
              </a:rPr>
              <a:t>硬链接 / 归档 / 回收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C32B0-496E-42B5-90CC-03DAC640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428875"/>
            <a:ext cx="2190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3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417"/>
                </a:solidFill>
                <a:latin typeface="Microsoft YaHei"/>
                <a:ea typeface="Microsoft YaHei"/>
                <a:cs typeface="Microsoft YaHei"/>
              </a:rPr>
              <a:t>留痕</a:t>
            </a:r>
          </a:p>
          <a:p xmlns:a="http://schemas.openxmlformats.org/drawingml/2006/main">
            <a:pPr algn="ctr">
              <a:defRPr sz="1500" b="1">
                <a:solidFill>
                  <a:srgbClr val="10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417"/>
                </a:solidFill>
                <a:latin typeface="Microsoft YaHei"/>
                <a:ea typeface="Microsoft YaHei"/>
                <a:cs typeface="Microsoft YaHei"/>
              </a:rPr>
              <a:t>按日追加报告与日志</a:t>
            </a:r>
          </a:p>
        </p:txBody>
      </p:sp>
      <p:cxnSp>
        <p:nvCxnSpPr>
          <p:cNvPr id="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952750" y="2928938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5CECF"/>
            </a:solidFill>
            <a:prstDash val="solid"/>
            <a:headEnd type="arrow" w="med" len="med"/>
          </a:ln>
        </p:spPr>
      </p:cxnSp>
      <p:cxnSp>
        <p:nvCxnSpPr>
          <p:cNvPr id="1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667375" y="2928938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5CECF"/>
            </a:solidFill>
            <a:prstDash val="solid"/>
            <a:headEnd type="arrow" w="med" len="med"/>
          </a:ln>
        </p:spPr>
      </p:cxnSp>
      <p:cxnSp>
        <p:nvCxnSpPr>
          <p:cNvPr id="1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382000" y="2928938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5CECF"/>
            </a:solidFill>
            <a:prstDash val="solid"/>
            <a:head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B4A8D0-C8B1-419B-8C95-9CC4862B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103346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61D21"/>
          </a:solidFill>
          <a:ln xmlns:a="http://schemas.openxmlformats.org/drawingml/2006/main" w="9525">
            <a:solidFill>
              <a:srgbClr val="202A2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8D860C-8F27-4DFD-93DD-869DECD2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6245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D3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6D39B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C68ED2-7F45-4D12-B837-D113679C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333875"/>
            <a:ext cx="838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3F0E8"/>
                </a:solidFill>
                <a:latin typeface="Microsoft YaHei"/>
                <a:ea typeface="Microsoft YaHei"/>
                <a:cs typeface="Microsoft YaHei"/>
              </a:rPr>
              <a:t>8 个菜单功能 · 白名单保护 · Docker 演示资产 · crontab 自动治理 · 按日追加报告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CF50FF-8177-4949-9D81-1E419108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768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3A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3A9FF"/>
                </a:solidFill>
                <a:latin typeface="Microsoft YaHei"/>
                <a:ea typeface="Microsoft YaHei"/>
                <a:cs typeface="Microsoft YaHei"/>
              </a:rPr>
              <a:t>可继续扩展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8B76FB-F023-40C7-B6D7-3213E023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848225"/>
            <a:ext cx="838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5CE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5CECF"/>
                </a:solidFill>
                <a:latin typeface="Microsoft YaHei"/>
                <a:ea typeface="Microsoft YaHei"/>
                <a:cs typeface="Microsoft YaHei"/>
              </a:rPr>
              <a:t>增加磁盘阈值告警、系统服务部署、更多压缩算法与 Web 可视化面板。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17F2E0-FFD9-483A-B43A-B528179A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829300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56D3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6D39B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CD7ACA-89A6-4027-9E8D-F512889B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A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2505CC-5966-46C8-BEC0-C04E415D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6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969C"/>
                </a:solidFill>
                <a:latin typeface="Microsoft YaHei"/>
                <a:ea typeface="Microsoft YaHei"/>
                <a:cs typeface="Microsoft YaHei"/>
              </a:rPr>
              <a:t>Linux 课程设计答辩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0B7C63-09B4-4ECD-8AB0-FCCFBD45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8177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69C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8A969C"/>
                </a:solidFill>
                <a:latin typeface="Cascadia Mono"/>
                <a:ea typeface="Cascadia Mono"/>
                <a:cs typeface="Cascadia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572906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2026-06-05T07:41:47.4230000Z</dcterms:created>
  <dcterms:modified xsi:type="dcterms:W3CDTF">2026-06-05T07:41:47.4230000Z</dcterms:modified>
</coreProperties>
</file>